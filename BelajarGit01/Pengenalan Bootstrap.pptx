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B63AD-CE16-4E73-A251-14860BD079F0}" v="2" dt="2025-07-23T15:43:59.5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sal Rahman" userId="be76a469df76d11b" providerId="LiveId" clId="{1F3B63AD-CE16-4E73-A251-14860BD079F0}"/>
    <pc:docChg chg="undo custSel delSld modSld">
      <pc:chgData name="Faisal Rahman" userId="be76a469df76d11b" providerId="LiveId" clId="{1F3B63AD-CE16-4E73-A251-14860BD079F0}" dt="2025-07-24T01:46:59.869" v="14" actId="1076"/>
      <pc:docMkLst>
        <pc:docMk/>
      </pc:docMkLst>
      <pc:sldChg chg="modSp mod">
        <pc:chgData name="Faisal Rahman" userId="be76a469df76d11b" providerId="LiveId" clId="{1F3B63AD-CE16-4E73-A251-14860BD079F0}" dt="2025-07-23T15:43:59.542" v="9"/>
        <pc:sldMkLst>
          <pc:docMk/>
          <pc:sldMk cId="3372570272" sldId="256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3372570272" sldId="256"/>
            <ac:spMk id="2" creationId="{BCD300DA-FDFD-BDED-1009-6CB6B25C2EBD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3372570272" sldId="256"/>
            <ac:spMk id="3" creationId="{10A22606-5169-80E8-D8C5-F53E6A46E524}"/>
          </ac:spMkLst>
        </pc:spChg>
      </pc:sldChg>
      <pc:sldChg chg="modSp mod">
        <pc:chgData name="Faisal Rahman" userId="be76a469df76d11b" providerId="LiveId" clId="{1F3B63AD-CE16-4E73-A251-14860BD079F0}" dt="2025-07-24T01:46:59.869" v="14" actId="1076"/>
        <pc:sldMkLst>
          <pc:docMk/>
          <pc:sldMk cId="1369249960" sldId="257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1369249960" sldId="257"/>
            <ac:spMk id="2" creationId="{F6C66930-E8DB-6BBB-9CF4-700441941CD2}"/>
          </ac:spMkLst>
        </pc:spChg>
        <pc:spChg chg="mod">
          <ac:chgData name="Faisal Rahman" userId="be76a469df76d11b" providerId="LiveId" clId="{1F3B63AD-CE16-4E73-A251-14860BD079F0}" dt="2025-07-24T01:46:59.869" v="14" actId="1076"/>
          <ac:spMkLst>
            <pc:docMk/>
            <pc:sldMk cId="1369249960" sldId="257"/>
            <ac:spMk id="3" creationId="{75CB8581-D4D6-EB66-8537-76052C6F2CDA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1198636190" sldId="258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1198636190" sldId="258"/>
            <ac:spMk id="2" creationId="{E638BAFF-60FD-D9B7-54E9-B1877100B62E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1198636190" sldId="258"/>
            <ac:spMk id="3" creationId="{67CD04D5-4DCD-18A7-85D8-8DE620F3DA91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452372772" sldId="259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452372772" sldId="259"/>
            <ac:spMk id="2" creationId="{F21121BF-A295-357F-2905-73456416C299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452372772" sldId="259"/>
            <ac:spMk id="3" creationId="{FB2E599E-DB0D-64E3-04C1-45CD2CF435B6}"/>
          </ac:spMkLst>
        </pc:spChg>
      </pc:sldChg>
      <pc:sldChg chg="modSp mod">
        <pc:chgData name="Faisal Rahman" userId="be76a469df76d11b" providerId="LiveId" clId="{1F3B63AD-CE16-4E73-A251-14860BD079F0}" dt="2025-07-23T15:43:59.626" v="10" actId="27636"/>
        <pc:sldMkLst>
          <pc:docMk/>
          <pc:sldMk cId="3403205658" sldId="260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3403205658" sldId="260"/>
            <ac:spMk id="2" creationId="{D4C47ED4-F121-A11C-9D56-9DE6865D5D5F}"/>
          </ac:spMkLst>
        </pc:spChg>
        <pc:spChg chg="mod">
          <ac:chgData name="Faisal Rahman" userId="be76a469df76d11b" providerId="LiveId" clId="{1F3B63AD-CE16-4E73-A251-14860BD079F0}" dt="2025-07-23T15:43:59.626" v="10" actId="27636"/>
          <ac:spMkLst>
            <pc:docMk/>
            <pc:sldMk cId="3403205658" sldId="260"/>
            <ac:spMk id="3" creationId="{90061F9D-A69F-C0E8-BD17-8CA360044273}"/>
          </ac:spMkLst>
        </pc:spChg>
      </pc:sldChg>
      <pc:sldChg chg="modSp mod">
        <pc:chgData name="Faisal Rahman" userId="be76a469df76d11b" providerId="LiveId" clId="{1F3B63AD-CE16-4E73-A251-14860BD079F0}" dt="2025-07-23T15:43:59.632" v="11" actId="27636"/>
        <pc:sldMkLst>
          <pc:docMk/>
          <pc:sldMk cId="4262804678" sldId="261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4262804678" sldId="261"/>
            <ac:spMk id="2" creationId="{9A1C94F0-8A76-473D-6515-CF7AF5A10384}"/>
          </ac:spMkLst>
        </pc:spChg>
        <pc:spChg chg="mod">
          <ac:chgData name="Faisal Rahman" userId="be76a469df76d11b" providerId="LiveId" clId="{1F3B63AD-CE16-4E73-A251-14860BD079F0}" dt="2025-07-23T15:43:59.632" v="11" actId="27636"/>
          <ac:spMkLst>
            <pc:docMk/>
            <pc:sldMk cId="4262804678" sldId="261"/>
            <ac:spMk id="3" creationId="{D3D427D4-6A90-F121-5FBA-D9173510A4AB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3302273213" sldId="262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3302273213" sldId="262"/>
            <ac:spMk id="2" creationId="{FD9B37E6-E62F-74CB-5D19-581FADC8EAFA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3302273213" sldId="262"/>
            <ac:spMk id="3" creationId="{5E637D55-816B-E52F-076E-201627053E36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364954685" sldId="263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364954685" sldId="263"/>
            <ac:spMk id="2" creationId="{77726ED3-CFC5-4124-D03D-D2A2DDB6DD62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364954685" sldId="263"/>
            <ac:spMk id="3" creationId="{3DED5CEC-7A98-CA97-06BB-9BF9E7503948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4149760328" sldId="264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4149760328" sldId="264"/>
            <ac:spMk id="2" creationId="{E7DECCF7-5DAF-6CD4-3B89-12C232BBA350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4149760328" sldId="264"/>
            <ac:spMk id="3" creationId="{54AAE057-931E-1D32-3964-BDA0136BC522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1492848474" sldId="265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1492848474" sldId="265"/>
            <ac:spMk id="2" creationId="{A7A5A5FB-B1A0-CF19-EF2D-8512A5ED7893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1492848474" sldId="265"/>
            <ac:spMk id="3" creationId="{F733770B-8AC9-CEE1-3F73-CF7B2044D314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1464611037" sldId="266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1464611037" sldId="266"/>
            <ac:spMk id="2" creationId="{5A14ABBC-C839-B50F-491A-27C1E411A3D3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1464611037" sldId="266"/>
            <ac:spMk id="3" creationId="{C21A0187-B04E-81E4-5C89-82F58FD9C5DF}"/>
          </ac:spMkLst>
        </pc:spChg>
      </pc:sldChg>
      <pc:sldChg chg="modSp del">
        <pc:chgData name="Faisal Rahman" userId="be76a469df76d11b" providerId="LiveId" clId="{1F3B63AD-CE16-4E73-A251-14860BD079F0}" dt="2025-07-23T15:46:01.697" v="12" actId="47"/>
        <pc:sldMkLst>
          <pc:docMk/>
          <pc:sldMk cId="3259669401" sldId="267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3259669401" sldId="267"/>
            <ac:spMk id="2" creationId="{D067638F-BD21-3B62-0565-7BFE70D82255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3259669401" sldId="267"/>
            <ac:spMk id="3" creationId="{BBF83B3E-CD53-4D50-E39B-8649CEA2FEC3}"/>
          </ac:spMkLst>
        </pc:spChg>
      </pc:sldChg>
      <pc:sldChg chg="modSp">
        <pc:chgData name="Faisal Rahman" userId="be76a469df76d11b" providerId="LiveId" clId="{1F3B63AD-CE16-4E73-A251-14860BD079F0}" dt="2025-07-23T15:43:59.542" v="9"/>
        <pc:sldMkLst>
          <pc:docMk/>
          <pc:sldMk cId="4149374604" sldId="268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4149374604" sldId="268"/>
            <ac:spMk id="2" creationId="{CF0A5619-4632-3D19-4EBF-2719E95842E9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4149374604" sldId="268"/>
            <ac:spMk id="3" creationId="{A475F28D-DB77-AE04-3484-19F0B6933D76}"/>
          </ac:spMkLst>
        </pc:spChg>
      </pc:sldChg>
      <pc:sldChg chg="addSp delSp modSp mod">
        <pc:chgData name="Faisal Rahman" userId="be76a469df76d11b" providerId="LiveId" clId="{1F3B63AD-CE16-4E73-A251-14860BD079F0}" dt="2025-07-23T15:43:59.542" v="9"/>
        <pc:sldMkLst>
          <pc:docMk/>
          <pc:sldMk cId="1344984280" sldId="269"/>
        </pc:sldMkLst>
        <pc:spChg chg="mod">
          <ac:chgData name="Faisal Rahman" userId="be76a469df76d11b" providerId="LiveId" clId="{1F3B63AD-CE16-4E73-A251-14860BD079F0}" dt="2025-07-23T15:43:59.542" v="9"/>
          <ac:spMkLst>
            <pc:docMk/>
            <pc:sldMk cId="1344984280" sldId="269"/>
            <ac:spMk id="2" creationId="{9AA1B359-1E9D-FBF1-FAC0-6F97FACFBCCA}"/>
          </ac:spMkLst>
        </pc:spChg>
        <pc:spChg chg="mod">
          <ac:chgData name="Faisal Rahman" userId="be76a469df76d11b" providerId="LiveId" clId="{1F3B63AD-CE16-4E73-A251-14860BD079F0}" dt="2025-07-23T15:43:59.542" v="9"/>
          <ac:spMkLst>
            <pc:docMk/>
            <pc:sldMk cId="1344984280" sldId="269"/>
            <ac:spMk id="3" creationId="{54310DFA-ABBF-8DCD-A9C0-16CE6554B87C}"/>
          </ac:spMkLst>
        </pc:spChg>
        <pc:spChg chg="add del mod">
          <ac:chgData name="Faisal Rahman" userId="be76a469df76d11b" providerId="LiveId" clId="{1F3B63AD-CE16-4E73-A251-14860BD079F0}" dt="2025-07-23T15:43:42.160" v="8"/>
          <ac:spMkLst>
            <pc:docMk/>
            <pc:sldMk cId="1344984280" sldId="269"/>
            <ac:spMk id="4" creationId="{B4CDA604-39FF-D252-FF03-65AB20E2C4A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12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9861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440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25334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8752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3018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8245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5817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941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5938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14990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6E886-3EAE-04D7-E82C-64E4BBF4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2EDB4-2990-698A-E66B-F3B7FF079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37717-9634-3A9E-470A-33449DEB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A9DE9-9086-4A1E-B4C9-FB182B405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AC969B-3BB3-DA7B-E76A-7C4F6BED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881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64C9B59-2EFC-472D-BD39-8AB6EB3803CB}" type="datetimeFigureOut">
              <a:rPr lang="en-ID" smtClean="0"/>
              <a:t>24/07/2025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0031D75-54AE-4AB9-B48B-D3000ECD09B4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2470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00DA-FDFD-BDED-1009-6CB6B25C2E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 err="1"/>
              <a:t>Pengenalan</a:t>
            </a:r>
            <a:r>
              <a:rPr lang="en-ID" dirty="0"/>
              <a:t> Bootstrap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A22606-5169-80E8-D8C5-F53E6A46E5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err="1"/>
              <a:t>Membangun</a:t>
            </a:r>
            <a:r>
              <a:rPr lang="fr-FR" dirty="0"/>
              <a:t> </a:t>
            </a:r>
            <a:r>
              <a:rPr lang="fr-FR" dirty="0" err="1"/>
              <a:t>Website</a:t>
            </a:r>
            <a:r>
              <a:rPr lang="fr-FR" dirty="0"/>
              <a:t> Responsif </a:t>
            </a:r>
            <a:r>
              <a:rPr lang="fr-FR" dirty="0" err="1"/>
              <a:t>dengan</a:t>
            </a:r>
            <a:r>
              <a:rPr lang="fr-FR" dirty="0"/>
              <a:t> </a:t>
            </a:r>
            <a:r>
              <a:rPr lang="fr-FR" dirty="0" err="1"/>
              <a:t>Cepat</a:t>
            </a:r>
            <a:r>
              <a:rPr lang="fr-FR" dirty="0"/>
              <a:t> &amp; </a:t>
            </a:r>
            <a:r>
              <a:rPr lang="fr-FR" dirty="0" err="1"/>
              <a:t>Efisien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372570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6930-E8DB-6BBB-9CF4-70044194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Apa yang Akan Kita Pelajari?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B8581-D4D6-EB66-8537-76052C6F2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400"/>
              <a:t>Apa itu Bootstrap?</a:t>
            </a:r>
          </a:p>
          <a:p>
            <a:r>
              <a:rPr lang="en-ID" sz="2400"/>
              <a:t>Instalasi &amp; Setup</a:t>
            </a:r>
          </a:p>
          <a:p>
            <a:r>
              <a:rPr lang="en-ID" sz="2400"/>
              <a:t>Konsep #1: Breakpoints</a:t>
            </a:r>
          </a:p>
          <a:p>
            <a:r>
              <a:rPr lang="en-ID" sz="2400"/>
              <a:t>Konsep #2: Grid System</a:t>
            </a:r>
          </a:p>
          <a:p>
            <a:r>
              <a:rPr lang="en-ID" sz="2400"/>
              <a:t>Konsep #3: Spacing (Margin &amp; Padding)</a:t>
            </a:r>
          </a:p>
          <a:p>
            <a:r>
              <a:rPr lang="en-ID" sz="2400"/>
              <a:t>Konsep #4: Gutters</a:t>
            </a:r>
          </a:p>
          <a:p>
            <a:r>
              <a:rPr lang="en-ID" sz="2400"/>
              <a:t>Konsep #5: Warna &amp; Teks</a:t>
            </a:r>
          </a:p>
          <a:p>
            <a:r>
              <a:rPr lang="en-ID" sz="2400"/>
              <a:t>Contoh Gabungan &amp; Tanya Jawab</a:t>
            </a:r>
          </a:p>
        </p:txBody>
      </p:sp>
    </p:spTree>
    <p:extLst>
      <p:ext uri="{BB962C8B-B14F-4D97-AF65-F5344CB8AC3E}">
        <p14:creationId xmlns:p14="http://schemas.microsoft.com/office/powerpoint/2010/main" val="1369249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8BAFF-60FD-D9B7-54E9-B1877100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Framework CSS Terpopuler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D04D5-4DCD-18A7-85D8-8DE620F3DA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400"/>
              <a:t>Bootstrap adalah kumpulan 'alat' (CSS dan JavaScript) siap pakai.</a:t>
            </a:r>
          </a:p>
          <a:p>
            <a:endParaRPr lang="en-ID" sz="2400"/>
          </a:p>
          <a:p>
            <a:r>
              <a:rPr lang="en-ID" sz="2400"/>
              <a:t>• Mobile-First: Didesain untuk mobile dahulu.</a:t>
            </a:r>
          </a:p>
          <a:p>
            <a:r>
              <a:rPr lang="en-ID" sz="2400"/>
              <a:t>• Responsif: Tampilan otomatis menyesuaikan.</a:t>
            </a:r>
          </a:p>
          <a:p>
            <a:r>
              <a:rPr lang="en-ID" sz="2400"/>
              <a:t>• Cepat: Mempercepat proses development.</a:t>
            </a:r>
          </a:p>
          <a:p>
            <a:r>
              <a:rPr lang="en-ID" sz="2400"/>
              <a:t>• Konsisten: Menghasilkan desain yang rapi.</a:t>
            </a:r>
          </a:p>
        </p:txBody>
      </p:sp>
    </p:spTree>
    <p:extLst>
      <p:ext uri="{BB962C8B-B14F-4D97-AF65-F5344CB8AC3E}">
        <p14:creationId xmlns:p14="http://schemas.microsoft.com/office/powerpoint/2010/main" val="1198636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121BF-A295-357F-2905-73456416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Cara Memulai ?? (CDN)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E599E-DB0D-64E3-04C1-45CD2CF435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200" dirty="0" err="1">
                <a:latin typeface="Courier New" panose="02070309020205020404" pitchFamily="49" charset="0"/>
              </a:rPr>
              <a:t>Cukup</a:t>
            </a:r>
            <a:r>
              <a:rPr lang="en-ID" sz="2200" dirty="0">
                <a:latin typeface="Courier New" panose="02070309020205020404" pitchFamily="49" charset="0"/>
              </a:rPr>
              <a:t> </a:t>
            </a:r>
            <a:r>
              <a:rPr lang="en-ID" sz="2200" dirty="0" err="1">
                <a:latin typeface="Courier New" panose="02070309020205020404" pitchFamily="49" charset="0"/>
              </a:rPr>
              <a:t>tambahkan</a:t>
            </a:r>
            <a:r>
              <a:rPr lang="en-ID" sz="2200" dirty="0">
                <a:latin typeface="Courier New" panose="02070309020205020404" pitchFamily="49" charset="0"/>
              </a:rPr>
              <a:t> 2 baris </a:t>
            </a:r>
            <a:r>
              <a:rPr lang="en-ID" sz="2200" dirty="0" err="1">
                <a:latin typeface="Courier New" panose="02070309020205020404" pitchFamily="49" charset="0"/>
              </a:rPr>
              <a:t>ini</a:t>
            </a:r>
            <a:r>
              <a:rPr lang="en-ID" sz="2200" dirty="0">
                <a:latin typeface="Courier New" panose="02070309020205020404" pitchFamily="49" charset="0"/>
              </a:rPr>
              <a:t> </a:t>
            </a:r>
            <a:r>
              <a:rPr lang="en-ID" sz="2200" dirty="0" err="1">
                <a:latin typeface="Courier New" panose="02070309020205020404" pitchFamily="49" charset="0"/>
              </a:rPr>
              <a:t>ke</a:t>
            </a:r>
            <a:r>
              <a:rPr lang="en-ID" sz="2200" dirty="0">
                <a:latin typeface="Courier New" panose="02070309020205020404" pitchFamily="49" charset="0"/>
              </a:rPr>
              <a:t> file HTML Anda:</a:t>
            </a:r>
          </a:p>
          <a:p>
            <a:endParaRPr lang="en-ID" sz="2200" dirty="0">
              <a:latin typeface="Courier New" panose="02070309020205020404" pitchFamily="49" charset="0"/>
            </a:endParaRPr>
          </a:p>
          <a:p>
            <a:r>
              <a:rPr lang="en-ID" sz="2200" dirty="0">
                <a:latin typeface="Courier New" panose="02070309020205020404" pitchFamily="49" charset="0"/>
              </a:rPr>
              <a:t>1. File CSS (di </a:t>
            </a:r>
            <a:r>
              <a:rPr lang="en-ID" sz="2200" dirty="0" err="1">
                <a:latin typeface="Courier New" panose="02070309020205020404" pitchFamily="49" charset="0"/>
              </a:rPr>
              <a:t>dalam</a:t>
            </a:r>
            <a:r>
              <a:rPr lang="en-ID" sz="2200" dirty="0">
                <a:latin typeface="Courier New" panose="02070309020205020404" pitchFamily="49" charset="0"/>
              </a:rPr>
              <a:t> &lt;head&gt;):</a:t>
            </a:r>
          </a:p>
          <a:p>
            <a:r>
              <a:rPr lang="en-ID" sz="2200" dirty="0">
                <a:latin typeface="Courier New" panose="02070309020205020404" pitchFamily="49" charset="0"/>
              </a:rPr>
              <a:t>&lt;link </a:t>
            </a:r>
            <a:r>
              <a:rPr lang="en-ID" sz="2200" dirty="0" err="1">
                <a:latin typeface="Courier New" panose="02070309020205020404" pitchFamily="49" charset="0"/>
              </a:rPr>
              <a:t>href</a:t>
            </a:r>
            <a:r>
              <a:rPr lang="en-ID" sz="2200" dirty="0">
                <a:latin typeface="Courier New" panose="02070309020205020404" pitchFamily="49" charset="0"/>
              </a:rPr>
              <a:t>="..." </a:t>
            </a:r>
            <a:r>
              <a:rPr lang="en-ID" sz="2200" dirty="0" err="1">
                <a:latin typeface="Courier New" panose="02070309020205020404" pitchFamily="49" charset="0"/>
              </a:rPr>
              <a:t>rel</a:t>
            </a:r>
            <a:r>
              <a:rPr lang="en-ID" sz="2200" dirty="0">
                <a:latin typeface="Courier New" panose="02070309020205020404" pitchFamily="49" charset="0"/>
              </a:rPr>
              <a:t>="stylesheet"&gt;</a:t>
            </a:r>
          </a:p>
          <a:p>
            <a:endParaRPr lang="en-ID" sz="2200" dirty="0">
              <a:latin typeface="Courier New" panose="02070309020205020404" pitchFamily="49" charset="0"/>
            </a:endParaRPr>
          </a:p>
          <a:p>
            <a:r>
              <a:rPr lang="en-ID" sz="2200" dirty="0">
                <a:latin typeface="Courier New" panose="02070309020205020404" pitchFamily="49" charset="0"/>
              </a:rPr>
              <a:t>2. File JavaScript (</a:t>
            </a:r>
            <a:r>
              <a:rPr lang="en-ID" sz="2200" dirty="0" err="1">
                <a:latin typeface="Courier New" panose="02070309020205020404" pitchFamily="49" charset="0"/>
              </a:rPr>
              <a:t>sebelum</a:t>
            </a:r>
            <a:r>
              <a:rPr lang="en-ID" sz="2200" dirty="0">
                <a:latin typeface="Courier New" panose="02070309020205020404" pitchFamily="49" charset="0"/>
              </a:rPr>
              <a:t> &lt;/body&gt;):</a:t>
            </a:r>
          </a:p>
          <a:p>
            <a:r>
              <a:rPr lang="en-ID" sz="2200" dirty="0">
                <a:latin typeface="Courier New" panose="02070309020205020404" pitchFamily="49" charset="0"/>
              </a:rPr>
              <a:t>&lt;script </a:t>
            </a:r>
            <a:r>
              <a:rPr lang="en-ID" sz="2200" dirty="0" err="1">
                <a:latin typeface="Courier New" panose="02070309020205020404" pitchFamily="49" charset="0"/>
              </a:rPr>
              <a:t>src</a:t>
            </a:r>
            <a:r>
              <a:rPr lang="en-ID" sz="2200" dirty="0">
                <a:latin typeface="Courier New" panose="02070309020205020404" pitchFamily="49" charset="0"/>
              </a:rPr>
              <a:t>="..."&gt;&lt;/script&gt;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452372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47ED4-F121-A11C-9D56-9DE6865D5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Boilerplate Wajib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061F9D-A69F-C0E8-BD17-8CA360044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sz="1600" dirty="0">
                <a:latin typeface="Courier New" panose="02070309020205020404" pitchFamily="49" charset="0"/>
              </a:rPr>
              <a:t>&lt;!DOCTYPE html&gt;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&lt;html lang="id"&gt;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&lt;head&gt;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  &lt;title&gt;</a:t>
            </a:r>
            <a:r>
              <a:rPr lang="en-ID" sz="1600" dirty="0" err="1">
                <a:latin typeface="Courier New" panose="02070309020205020404" pitchFamily="49" charset="0"/>
              </a:rPr>
              <a:t>Proyek</a:t>
            </a:r>
            <a:r>
              <a:rPr lang="en-ID" sz="1600" dirty="0">
                <a:latin typeface="Courier New" panose="02070309020205020404" pitchFamily="49" charset="0"/>
              </a:rPr>
              <a:t> Bootstrap&lt;/title&gt;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  &lt;link </a:t>
            </a:r>
            <a:r>
              <a:rPr lang="en-ID" sz="1600" dirty="0" err="1">
                <a:latin typeface="Courier New" panose="02070309020205020404" pitchFamily="49" charset="0"/>
              </a:rPr>
              <a:t>href</a:t>
            </a:r>
            <a:r>
              <a:rPr lang="en-ID" sz="1600" dirty="0">
                <a:latin typeface="Courier New" panose="02070309020205020404" pitchFamily="49" charset="0"/>
              </a:rPr>
              <a:t>="...bootstrap.min.css"...&gt;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&lt;/head&gt;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&lt;body&gt;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  &lt;h1&gt;Halo, Dunia!&lt;/h1&gt;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  &lt;script </a:t>
            </a:r>
            <a:r>
              <a:rPr lang="en-ID" sz="1600" dirty="0" err="1">
                <a:latin typeface="Courier New" panose="02070309020205020404" pitchFamily="49" charset="0"/>
              </a:rPr>
              <a:t>src</a:t>
            </a:r>
            <a:r>
              <a:rPr lang="en-ID" sz="1600" dirty="0">
                <a:latin typeface="Courier New" panose="02070309020205020404" pitchFamily="49" charset="0"/>
              </a:rPr>
              <a:t>="...bootstrap.bundle.min.js"...&gt;&lt;/script&gt;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&lt;/body&gt;</a:t>
            </a:r>
          </a:p>
          <a:p>
            <a:r>
              <a:rPr lang="en-ID" sz="1600" dirty="0">
                <a:latin typeface="Courier New" panose="02070309020205020404" pitchFamily="49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403205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C94F0-8A76-473D-6515-CF7AF5A10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Konsep #1: Breakpoints 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427D4-6A90-F121-5FBA-D9173510A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D" sz="2400" dirty="0" err="1"/>
              <a:t>Titik</a:t>
            </a:r>
            <a:r>
              <a:rPr lang="en-ID" sz="2400" dirty="0"/>
              <a:t> batas </a:t>
            </a:r>
            <a:r>
              <a:rPr lang="en-ID" sz="2400" dirty="0" err="1"/>
              <a:t>lebar</a:t>
            </a:r>
            <a:r>
              <a:rPr lang="en-ID" sz="2400" dirty="0"/>
              <a:t> </a:t>
            </a:r>
            <a:r>
              <a:rPr lang="en-ID" sz="2400" dirty="0" err="1"/>
              <a:t>layar</a:t>
            </a:r>
            <a:r>
              <a:rPr lang="en-ID" sz="2400" dirty="0"/>
              <a:t>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mengubah</a:t>
            </a:r>
            <a:r>
              <a:rPr lang="en-ID" sz="2400" dirty="0"/>
              <a:t> layout.</a:t>
            </a:r>
          </a:p>
          <a:p>
            <a:endParaRPr lang="en-ID" sz="2400" dirty="0"/>
          </a:p>
          <a:p>
            <a:r>
              <a:rPr lang="en-ID" sz="2400" dirty="0"/>
              <a:t>• </a:t>
            </a:r>
            <a:r>
              <a:rPr lang="en-ID" sz="2400" dirty="0" err="1"/>
              <a:t>sm</a:t>
            </a:r>
            <a:r>
              <a:rPr lang="en-ID" sz="2400" dirty="0"/>
              <a:t> (=576px) - Small</a:t>
            </a:r>
          </a:p>
          <a:p>
            <a:r>
              <a:rPr lang="en-ID" sz="2400" dirty="0"/>
              <a:t>• md (=768px) - Medium</a:t>
            </a:r>
          </a:p>
          <a:p>
            <a:r>
              <a:rPr lang="en-ID" sz="2400" dirty="0"/>
              <a:t>• </a:t>
            </a:r>
            <a:r>
              <a:rPr lang="en-ID" sz="2400" dirty="0" err="1"/>
              <a:t>lg</a:t>
            </a:r>
            <a:r>
              <a:rPr lang="en-ID" sz="2400" dirty="0"/>
              <a:t> (=992px) - Large</a:t>
            </a:r>
          </a:p>
          <a:p>
            <a:r>
              <a:rPr lang="en-ID" sz="2400" dirty="0"/>
              <a:t>• xl (=1200px) - Extra Large</a:t>
            </a:r>
          </a:p>
          <a:p>
            <a:r>
              <a:rPr lang="en-ID" sz="2400" dirty="0"/>
              <a:t>• </a:t>
            </a:r>
            <a:r>
              <a:rPr lang="en-ID" sz="2400" dirty="0" err="1"/>
              <a:t>xxl</a:t>
            </a:r>
            <a:r>
              <a:rPr lang="en-ID" sz="2400" dirty="0"/>
              <a:t> (=1400px) - Extra </a:t>
            </a:r>
            <a:r>
              <a:rPr lang="en-ID" sz="2400" dirty="0" err="1"/>
              <a:t>Extra</a:t>
            </a:r>
            <a:r>
              <a:rPr lang="en-ID" sz="2400" dirty="0"/>
              <a:t> Large</a:t>
            </a:r>
          </a:p>
          <a:p>
            <a:endParaRPr lang="en-ID" sz="2400" dirty="0"/>
          </a:p>
          <a:p>
            <a:r>
              <a:rPr lang="en-ID" sz="2400" dirty="0" err="1"/>
              <a:t>Contoh</a:t>
            </a:r>
            <a:r>
              <a:rPr lang="en-ID" sz="2400" dirty="0"/>
              <a:t> </a:t>
            </a:r>
            <a:r>
              <a:rPr lang="en-ID" sz="2400" dirty="0" err="1"/>
              <a:t>kelas</a:t>
            </a:r>
            <a:r>
              <a:rPr lang="en-ID" sz="2400" dirty="0"/>
              <a:t>: col-md-6, text-</a:t>
            </a:r>
            <a:r>
              <a:rPr lang="en-ID" sz="2400" dirty="0" err="1"/>
              <a:t>lg</a:t>
            </a:r>
            <a:r>
              <a:rPr lang="en-ID" sz="2400" dirty="0"/>
              <a:t>-start</a:t>
            </a:r>
          </a:p>
        </p:txBody>
      </p:sp>
    </p:spTree>
    <p:extLst>
      <p:ext uri="{BB962C8B-B14F-4D97-AF65-F5344CB8AC3E}">
        <p14:creationId xmlns:p14="http://schemas.microsoft.com/office/powerpoint/2010/main" val="426280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37E6-E62F-74CB-5D19-581FADC8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Konsep #2: Grid System 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37D55-816B-E52F-076E-201627053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400"/>
              <a:t>Membagi halaman menjadi 12 kolom virtual.</a:t>
            </a:r>
          </a:p>
          <a:p>
            <a:endParaRPr lang="en-ID" sz="2400"/>
          </a:p>
          <a:p>
            <a:r>
              <a:rPr lang="en-ID" sz="2400"/>
              <a:t>Komponen Utama:</a:t>
            </a:r>
          </a:p>
          <a:p>
            <a:r>
              <a:rPr lang="en-ID" sz="2400"/>
              <a:t>1. .container</a:t>
            </a:r>
          </a:p>
          <a:p>
            <a:r>
              <a:rPr lang="en-ID" sz="2400"/>
              <a:t>2. .row</a:t>
            </a:r>
          </a:p>
          <a:p>
            <a:r>
              <a:rPr lang="en-ID" sz="2400"/>
              <a:t>3. .col-*</a:t>
            </a:r>
          </a:p>
        </p:txBody>
      </p:sp>
    </p:spTree>
    <p:extLst>
      <p:ext uri="{BB962C8B-B14F-4D97-AF65-F5344CB8AC3E}">
        <p14:creationId xmlns:p14="http://schemas.microsoft.com/office/powerpoint/2010/main" val="3302273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26ED3-CFC5-4124-D03D-D2A2DDB6D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Grid System - Contoh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ED5CEC-7A98-CA97-06BB-9BF9E7503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1800" dirty="0">
                <a:latin typeface="Courier New" panose="02070309020205020404" pitchFamily="49" charset="0"/>
              </a:rPr>
              <a:t>&lt;div class="container"&gt;</a:t>
            </a:r>
          </a:p>
          <a:p>
            <a:r>
              <a:rPr lang="en-ID" sz="1800" dirty="0">
                <a:latin typeface="Courier New" panose="02070309020205020404" pitchFamily="49" charset="0"/>
              </a:rPr>
              <a:t>  &lt;div class="row"&gt;</a:t>
            </a:r>
          </a:p>
          <a:p>
            <a:r>
              <a:rPr lang="en-ID" sz="1800" dirty="0">
                <a:latin typeface="Courier New" panose="02070309020205020404" pitchFamily="49" charset="0"/>
              </a:rPr>
              <a:t>    &lt;div class="col-md-8"&gt;</a:t>
            </a:r>
            <a:r>
              <a:rPr lang="en-ID" sz="1800" dirty="0" err="1">
                <a:latin typeface="Courier New" panose="02070309020205020404" pitchFamily="49" charset="0"/>
              </a:rPr>
              <a:t>Konten</a:t>
            </a:r>
            <a:r>
              <a:rPr lang="en-ID" sz="1800" dirty="0">
                <a:latin typeface="Courier New" panose="02070309020205020404" pitchFamily="49" charset="0"/>
              </a:rPr>
              <a:t> Utama&lt;/div&gt;</a:t>
            </a:r>
          </a:p>
          <a:p>
            <a:r>
              <a:rPr lang="en-ID" sz="1800" dirty="0">
                <a:latin typeface="Courier New" panose="02070309020205020404" pitchFamily="49" charset="0"/>
              </a:rPr>
              <a:t>    &lt;div class="col-md-4"&gt;Sidebar&lt;/div&gt;</a:t>
            </a:r>
          </a:p>
          <a:p>
            <a:r>
              <a:rPr lang="en-ID" sz="1800" dirty="0">
                <a:latin typeface="Courier New" panose="02070309020205020404" pitchFamily="49" charset="0"/>
              </a:rPr>
              <a:t>  &lt;/div&gt;</a:t>
            </a:r>
          </a:p>
          <a:p>
            <a:r>
              <a:rPr lang="en-ID" sz="1800" dirty="0">
                <a:latin typeface="Courier New" panose="02070309020205020404" pitchFamily="49" charset="0"/>
              </a:rPr>
              <a:t>&lt;/div&gt;</a:t>
            </a:r>
          </a:p>
          <a:p>
            <a:endParaRPr lang="en-ID" sz="1800" dirty="0">
              <a:latin typeface="Courier New" panose="02070309020205020404" pitchFamily="49" charset="0"/>
            </a:endParaRPr>
          </a:p>
          <a:p>
            <a:r>
              <a:rPr lang="en-ID" sz="1800" dirty="0">
                <a:latin typeface="Courier New" panose="02070309020205020404" pitchFamily="49" charset="0"/>
              </a:rPr>
              <a:t>Di </a:t>
            </a:r>
            <a:r>
              <a:rPr lang="en-ID" sz="1800" dirty="0" err="1">
                <a:latin typeface="Courier New" panose="02070309020205020404" pitchFamily="49" charset="0"/>
              </a:rPr>
              <a:t>layar</a:t>
            </a:r>
            <a:r>
              <a:rPr lang="en-ID" sz="1800" dirty="0">
                <a:latin typeface="Courier New" panose="02070309020205020404" pitchFamily="49" charset="0"/>
              </a:rPr>
              <a:t> </a:t>
            </a:r>
            <a:r>
              <a:rPr lang="en-ID" sz="1800" dirty="0" err="1">
                <a:latin typeface="Courier New" panose="02070309020205020404" pitchFamily="49" charset="0"/>
              </a:rPr>
              <a:t>besar</a:t>
            </a:r>
            <a:r>
              <a:rPr lang="en-ID" sz="1800" dirty="0">
                <a:latin typeface="Courier New" panose="02070309020205020404" pitchFamily="49" charset="0"/>
              </a:rPr>
              <a:t>: [ </a:t>
            </a:r>
            <a:r>
              <a:rPr lang="en-ID" sz="1800" dirty="0" err="1">
                <a:latin typeface="Courier New" panose="02070309020205020404" pitchFamily="49" charset="0"/>
              </a:rPr>
              <a:t>Konten</a:t>
            </a:r>
            <a:r>
              <a:rPr lang="en-ID" sz="1800" dirty="0">
                <a:latin typeface="Courier New" panose="02070309020205020404" pitchFamily="49" charset="0"/>
              </a:rPr>
              <a:t> (8) ] [ Sidebar (4) ]</a:t>
            </a:r>
          </a:p>
          <a:p>
            <a:r>
              <a:rPr lang="en-ID" sz="1800" dirty="0">
                <a:latin typeface="Courier New" panose="02070309020205020404" pitchFamily="49" charset="0"/>
              </a:rPr>
              <a:t>Di </a:t>
            </a:r>
            <a:r>
              <a:rPr lang="en-ID" sz="1800" dirty="0" err="1">
                <a:latin typeface="Courier New" panose="02070309020205020404" pitchFamily="49" charset="0"/>
              </a:rPr>
              <a:t>layar</a:t>
            </a:r>
            <a:r>
              <a:rPr lang="en-ID" sz="1800" dirty="0">
                <a:latin typeface="Courier New" panose="02070309020205020404" pitchFamily="49" charset="0"/>
              </a:rPr>
              <a:t> </a:t>
            </a:r>
            <a:r>
              <a:rPr lang="en-ID" sz="1800" dirty="0" err="1">
                <a:latin typeface="Courier New" panose="02070309020205020404" pitchFamily="49" charset="0"/>
              </a:rPr>
              <a:t>kecil</a:t>
            </a:r>
            <a:r>
              <a:rPr lang="en-ID" sz="1800" dirty="0">
                <a:latin typeface="Courier New" panose="02070309020205020404" pitchFamily="49" charset="0"/>
              </a:rPr>
              <a:t>: </a:t>
            </a:r>
            <a:r>
              <a:rPr lang="en-ID" sz="1800" dirty="0" err="1">
                <a:latin typeface="Courier New" panose="02070309020205020404" pitchFamily="49" charset="0"/>
              </a:rPr>
              <a:t>Tumpukan</a:t>
            </a:r>
            <a:r>
              <a:rPr lang="en-ID" sz="1800" dirty="0">
                <a:latin typeface="Courier New" panose="02070309020205020404" pitchFamily="49" charset="0"/>
              </a:rPr>
              <a:t> </a:t>
            </a:r>
            <a:r>
              <a:rPr lang="en-ID" sz="1800" dirty="0" err="1">
                <a:latin typeface="Courier New" panose="02070309020205020404" pitchFamily="49" charset="0"/>
              </a:rPr>
              <a:t>vertikal</a:t>
            </a:r>
            <a:endParaRPr lang="en-ID" sz="1800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54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ECCF7-5DAF-6CD4-3B89-12C232BBA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Konsep #3: Spacing 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AAE057-931E-1D32-3964-BDA0136BC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Format: {</a:t>
            </a:r>
            <a:r>
              <a:rPr lang="en-ID" sz="2400" dirty="0" err="1"/>
              <a:t>properti</a:t>
            </a:r>
            <a:r>
              <a:rPr lang="en-ID" sz="2400" dirty="0"/>
              <a:t>}{</a:t>
            </a:r>
            <a:r>
              <a:rPr lang="en-ID" sz="2400" dirty="0" err="1"/>
              <a:t>sisi</a:t>
            </a:r>
            <a:r>
              <a:rPr lang="en-ID" sz="2400" dirty="0"/>
              <a:t>}-{</a:t>
            </a:r>
            <a:r>
              <a:rPr lang="en-ID" sz="2400" dirty="0" err="1"/>
              <a:t>ukuran</a:t>
            </a:r>
            <a:r>
              <a:rPr lang="en-ID" sz="2400" dirty="0"/>
              <a:t>}</a:t>
            </a:r>
          </a:p>
          <a:p>
            <a:endParaRPr lang="en-ID" sz="2400" dirty="0"/>
          </a:p>
          <a:p>
            <a:r>
              <a:rPr lang="en-ID" sz="2400" dirty="0"/>
              <a:t>• </a:t>
            </a:r>
            <a:r>
              <a:rPr lang="en-ID" sz="2400" dirty="0" err="1"/>
              <a:t>Properti</a:t>
            </a:r>
            <a:r>
              <a:rPr lang="en-ID" sz="2400" dirty="0"/>
              <a:t>: m (margin), p (padding)</a:t>
            </a:r>
          </a:p>
          <a:p>
            <a:r>
              <a:rPr lang="en-ID" sz="2400" dirty="0"/>
              <a:t>• Sisi: t, b, s, e, x, y</a:t>
            </a:r>
          </a:p>
          <a:p>
            <a:r>
              <a:rPr lang="en-ID" sz="2400" dirty="0"/>
              <a:t>• </a:t>
            </a:r>
            <a:r>
              <a:rPr lang="en-ID" sz="2400" dirty="0" err="1"/>
              <a:t>Ukuran</a:t>
            </a:r>
            <a:r>
              <a:rPr lang="en-ID" sz="2400" dirty="0"/>
              <a:t>: 0, 1, 2, 3, 4, 5, auto</a:t>
            </a:r>
          </a:p>
          <a:p>
            <a:endParaRPr lang="en-ID" sz="2400" dirty="0"/>
          </a:p>
          <a:p>
            <a:r>
              <a:rPr lang="en-ID" sz="2400" dirty="0" err="1"/>
              <a:t>Contoh</a:t>
            </a:r>
            <a:r>
              <a:rPr lang="en-ID" sz="2400" dirty="0"/>
              <a:t>: mt-3, px-5, mx-auto</a:t>
            </a:r>
          </a:p>
        </p:txBody>
      </p:sp>
    </p:spTree>
    <p:extLst>
      <p:ext uri="{BB962C8B-B14F-4D97-AF65-F5344CB8AC3E}">
        <p14:creationId xmlns:p14="http://schemas.microsoft.com/office/powerpoint/2010/main" val="4149760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A5FB-B1A0-CF19-EF2D-8512A5ED7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Konsep #4: Gutters 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3770B-8AC9-CEE1-3F73-CF7B2044D3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400"/>
              <a:t>Gutter adalah spasi di antara kolom grid.</a:t>
            </a:r>
          </a:p>
          <a:p>
            <a:endParaRPr lang="en-ID" sz="2400"/>
          </a:p>
          <a:p>
            <a:r>
              <a:rPr lang="en-ID" sz="2400"/>
              <a:t>• Atur pada elemen .row</a:t>
            </a:r>
          </a:p>
          <a:p>
            <a:r>
              <a:rPr lang="en-ID" sz="2400"/>
              <a:t>• Kelas: g-*, gx-*, gy-*</a:t>
            </a:r>
          </a:p>
          <a:p>
            <a:r>
              <a:rPr lang="en-ID" sz="2400"/>
              <a:t>• Ukuran: 0 (tanpa jarak) hingga 5</a:t>
            </a:r>
          </a:p>
          <a:p>
            <a:endParaRPr lang="en-ID" sz="2400"/>
          </a:p>
          <a:p>
            <a:r>
              <a:rPr lang="en-ID" sz="2400"/>
              <a:t>Contoh: &lt;div class="row g-4"&gt;</a:t>
            </a:r>
          </a:p>
        </p:txBody>
      </p:sp>
    </p:spTree>
    <p:extLst>
      <p:ext uri="{BB962C8B-B14F-4D97-AF65-F5344CB8AC3E}">
        <p14:creationId xmlns:p14="http://schemas.microsoft.com/office/powerpoint/2010/main" val="1492848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ABBC-C839-B50F-491A-27C1E411A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Konsep #5: Warna &amp; Teks ????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A0187-B04E-81E4-5C89-82F58FD9C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 sz="2400" dirty="0"/>
              <a:t>Warna Tema:</a:t>
            </a:r>
          </a:p>
          <a:p>
            <a:r>
              <a:rPr lang="en-ID" sz="2400" dirty="0"/>
              <a:t>• </a:t>
            </a:r>
            <a:r>
              <a:rPr lang="en-ID" sz="2400" dirty="0" err="1"/>
              <a:t>bg</a:t>
            </a:r>
            <a:r>
              <a:rPr lang="en-ID" sz="2400" dirty="0"/>
              <a:t>-{</a:t>
            </a:r>
            <a:r>
              <a:rPr lang="en-ID" sz="2400" dirty="0" err="1"/>
              <a:t>warna</a:t>
            </a:r>
            <a:r>
              <a:rPr lang="en-ID" sz="2400" dirty="0"/>
              <a:t>} </a:t>
            </a:r>
            <a:r>
              <a:rPr lang="en-ID" sz="2400" dirty="0" err="1"/>
              <a:t>untuk</a:t>
            </a:r>
            <a:r>
              <a:rPr lang="en-ID" sz="2400" dirty="0"/>
              <a:t> background</a:t>
            </a:r>
          </a:p>
          <a:p>
            <a:r>
              <a:rPr lang="en-ID" sz="2400" dirty="0"/>
              <a:t>• text-{</a:t>
            </a:r>
            <a:r>
              <a:rPr lang="en-ID" sz="2400" dirty="0" err="1"/>
              <a:t>warna</a:t>
            </a:r>
            <a:r>
              <a:rPr lang="en-ID" sz="2400" dirty="0"/>
              <a:t>} </a:t>
            </a:r>
            <a:r>
              <a:rPr lang="en-ID" sz="2400" dirty="0" err="1"/>
              <a:t>untuk</a:t>
            </a:r>
            <a:r>
              <a:rPr lang="en-ID" sz="2400" dirty="0"/>
              <a:t> </a:t>
            </a:r>
            <a:r>
              <a:rPr lang="en-ID" sz="2400" dirty="0" err="1"/>
              <a:t>teks</a:t>
            </a:r>
            <a:endParaRPr lang="en-ID" sz="2400" dirty="0"/>
          </a:p>
          <a:p>
            <a:r>
              <a:rPr lang="en-ID" sz="2400" dirty="0"/>
              <a:t>(primary, success, danger, warning)</a:t>
            </a:r>
          </a:p>
          <a:p>
            <a:endParaRPr lang="en-ID" sz="2400" dirty="0"/>
          </a:p>
          <a:p>
            <a:r>
              <a:rPr lang="en-ID" sz="2400" dirty="0" err="1"/>
              <a:t>Utilitas</a:t>
            </a:r>
            <a:r>
              <a:rPr lang="en-ID" sz="2400" dirty="0"/>
              <a:t> Teks:</a:t>
            </a:r>
          </a:p>
          <a:p>
            <a:r>
              <a:rPr lang="en-ID" sz="2400" dirty="0"/>
              <a:t>• Alignment: text-</a:t>
            </a:r>
            <a:r>
              <a:rPr lang="en-ID" sz="2400" dirty="0" err="1"/>
              <a:t>center</a:t>
            </a:r>
            <a:r>
              <a:rPr lang="en-ID" sz="2400" dirty="0"/>
              <a:t>, text-end</a:t>
            </a:r>
          </a:p>
          <a:p>
            <a:r>
              <a:rPr lang="en-ID" sz="2400" dirty="0"/>
              <a:t>• Weight: </a:t>
            </a:r>
            <a:r>
              <a:rPr lang="en-ID" sz="2400" dirty="0" err="1"/>
              <a:t>fw</a:t>
            </a:r>
            <a:r>
              <a:rPr lang="en-ID" sz="2400" dirty="0"/>
              <a:t>-bold, </a:t>
            </a:r>
            <a:r>
              <a:rPr lang="en-ID" sz="2400" dirty="0" err="1"/>
              <a:t>fw</a:t>
            </a:r>
            <a:r>
              <a:rPr lang="en-ID" sz="2400" dirty="0"/>
              <a:t>-light</a:t>
            </a:r>
          </a:p>
        </p:txBody>
      </p:sp>
    </p:spTree>
    <p:extLst>
      <p:ext uri="{BB962C8B-B14F-4D97-AF65-F5344CB8AC3E}">
        <p14:creationId xmlns:p14="http://schemas.microsoft.com/office/powerpoint/2010/main" val="1464611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A5619-4632-3D19-4EBF-2719E958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/>
              <a:t>Kenapa Pakai Bootstrap?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5F28D-DB77-AE04-3484-19F0B6933D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D"/>
              <a:t>• Kecepatan Development</a:t>
            </a:r>
          </a:p>
          <a:p>
            <a:r>
              <a:rPr lang="en-ID"/>
              <a:t>• Responsif Sejak Awal</a:t>
            </a:r>
          </a:p>
          <a:p>
            <a:r>
              <a:rPr lang="en-ID"/>
              <a:t>• Komunitas &amp; Dokumentasi Besar</a:t>
            </a:r>
          </a:p>
          <a:p>
            <a:r>
              <a:rPr lang="en-ID"/>
              <a:t>• Mudah Dipelajari</a:t>
            </a:r>
          </a:p>
        </p:txBody>
      </p:sp>
    </p:spTree>
    <p:extLst>
      <p:ext uri="{BB962C8B-B14F-4D97-AF65-F5344CB8AC3E}">
        <p14:creationId xmlns:p14="http://schemas.microsoft.com/office/powerpoint/2010/main" val="414937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1B359-1E9D-FBF1-FAC0-6F97FACFBC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/>
              <a:t>Terima Kasih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310DFA-ABBF-8DCD-A9C0-16CE6554B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D" dirty="0"/>
              <a:t>Ada </a:t>
            </a:r>
            <a:r>
              <a:rPr lang="en-ID" dirty="0" err="1"/>
              <a:t>Pertanyaan</a:t>
            </a:r>
            <a:r>
              <a:rPr lang="en-ID" dirty="0"/>
              <a:t>?</a:t>
            </a:r>
          </a:p>
          <a:p>
            <a:r>
              <a:rPr lang="en-ID" dirty="0"/>
              <a:t>Happy Coding!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4498428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97</TotalTime>
  <Words>571</Words>
  <Application>Microsoft Office PowerPoint</Application>
  <PresentationFormat>Widescreen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Calibri</vt:lpstr>
      <vt:lpstr>Calibri Light</vt:lpstr>
      <vt:lpstr>Courier New</vt:lpstr>
      <vt:lpstr>Retrospect</vt:lpstr>
      <vt:lpstr>Pengenalan Bootstrap</vt:lpstr>
      <vt:lpstr>Apa yang Akan Kita Pelajari?</vt:lpstr>
      <vt:lpstr>Framework CSS Terpopuler</vt:lpstr>
      <vt:lpstr>Cara Memulai ?? (CDN)</vt:lpstr>
      <vt:lpstr>Boilerplate Wajib</vt:lpstr>
      <vt:lpstr>Konsep #1: Breakpoints ??</vt:lpstr>
      <vt:lpstr>Konsep #2: Grid System ??</vt:lpstr>
      <vt:lpstr>Grid System - Contoh</vt:lpstr>
      <vt:lpstr>Konsep #3: Spacing ??</vt:lpstr>
      <vt:lpstr>Konsep #4: Gutters ??</vt:lpstr>
      <vt:lpstr>Konsep #5: Warna &amp; Teks ????</vt:lpstr>
      <vt:lpstr>Kenapa Pakai Bootstrap?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Faisal Rahman</dc:creator>
  <cp:lastModifiedBy>Faisal Rahman</cp:lastModifiedBy>
  <cp:revision>1</cp:revision>
  <dcterms:created xsi:type="dcterms:W3CDTF">2025-07-23T15:42:54Z</dcterms:created>
  <dcterms:modified xsi:type="dcterms:W3CDTF">2025-07-24T03:06:02Z</dcterms:modified>
</cp:coreProperties>
</file>